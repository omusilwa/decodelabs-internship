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7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8.xml" ContentType="application/vnd.openxmlformats-officedocument.presentationml.notesSlide+xml"/>
  <Override PartName="/ppt/charts/chart11.xml" ContentType="application/vnd.openxmlformats-officedocument.drawingml.chart+xml"/>
  <Override PartName="/ppt/notesSlides/notesSlide9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11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65A82"/>
                </a:solidFill>
                <a:latin typeface="Arial"/>
              </a:defRPr>
            </a:pPr>
            <a:r>
              <a:rPr lang="en-US" sz="1050" b="1" i="0" u="none" strike="noStrike" dirty="0">
                <a:solidFill>
                  <a:srgbClr val="065A82"/>
                </a:solidFill>
                <a:latin typeface="Arial"/>
              </a:rPr>
              <a:t>Revenue Trend (Monthly)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</c:v>
                </c:pt>
              </c:strCache>
            </c:strRef>
          </c:tx>
          <c:spPr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85000</c:v>
                </c:pt>
                <c:pt idx="1">
                  <c:v>90000</c:v>
                </c:pt>
                <c:pt idx="2">
                  <c:v>95000</c:v>
                </c:pt>
                <c:pt idx="3">
                  <c:v>100000</c:v>
                </c:pt>
                <c:pt idx="4">
                  <c:v>110000</c:v>
                </c:pt>
                <c:pt idx="5">
                  <c:v>155000</c:v>
                </c:pt>
                <c:pt idx="6">
                  <c:v>125000</c:v>
                </c:pt>
                <c:pt idx="7">
                  <c:v>80000</c:v>
                </c:pt>
                <c:pt idx="8">
                  <c:v>75000</c:v>
                </c:pt>
                <c:pt idx="9">
                  <c:v>130000</c:v>
                </c:pt>
                <c:pt idx="10">
                  <c:v>100000</c:v>
                </c:pt>
                <c:pt idx="11">
                  <c:v>95000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2EA-41A7-962A-224794F76F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chemeClr val="tx1"/>
                </a:solidFill>
                <a:latin typeface="Century Gothic" panose="020B0502020202020204" pitchFamily="34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noFill/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entury Gothic" panose="020B0502020202020204" pitchFamily="34" charset="0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50" b="1" i="0" u="none" strike="noStrike">
                <a:solidFill>
                  <a:srgbClr val="065A82"/>
                </a:solidFill>
                <a:latin typeface="Century Gothic" panose="020B0502020202020204" pitchFamily="34" charset="0"/>
              </a:defRPr>
            </a:pPr>
            <a:r>
              <a:rPr lang="en-US" sz="1050" b="1" i="0" u="none" strike="noStrike">
                <a:solidFill>
                  <a:srgbClr val="065A82"/>
                </a:solidFill>
                <a:latin typeface="Century Gothic" panose="020B0502020202020204" pitchFamily="34" charset="0"/>
              </a:rPr>
              <a:t>Customer Acquisition Channels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065A82"/>
                    </a:solidFill>
                    <a:latin typeface="Century Gothic" panose="020B0502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Instagram</c:v>
                </c:pt>
                <c:pt idx="1">
                  <c:v>Email</c:v>
                </c:pt>
                <c:pt idx="2">
                  <c:v>Google</c:v>
                </c:pt>
                <c:pt idx="3">
                  <c:v>Facebook</c:v>
                </c:pt>
                <c:pt idx="4">
                  <c:v>Referral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259</c:v>
                </c:pt>
                <c:pt idx="1">
                  <c:v>250</c:v>
                </c:pt>
                <c:pt idx="2">
                  <c:v>241</c:v>
                </c:pt>
                <c:pt idx="3">
                  <c:v>228</c:v>
                </c:pt>
                <c:pt idx="4">
                  <c:v>222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A5-4922-A046-B3C61AB825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/>
                </a:solidFill>
                <a:latin typeface="Century Gothic" panose="020B0502020202020204" pitchFamily="34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noFill/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50" b="1" i="0" u="none" strike="noStrike">
                <a:solidFill>
                  <a:srgbClr val="065A82"/>
                </a:solidFill>
                <a:latin typeface="Century Gothic" panose="020B0502020202020204" pitchFamily="34" charset="0"/>
              </a:defRPr>
            </a:pPr>
            <a:r>
              <a:rPr lang="en-US" sz="1050" b="1" i="0" u="none" strike="noStrike">
                <a:solidFill>
                  <a:srgbClr val="065A82"/>
                </a:solidFill>
                <a:latin typeface="Century Gothic" panose="020B0502020202020204" pitchFamily="34" charset="0"/>
              </a:rPr>
              <a:t>Top Products by Order Volume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 Count</c:v>
                </c:pt>
              </c:strCache>
            </c:strRef>
          </c:tx>
          <c:spPr>
            <a:solidFill>
              <a:srgbClr val="065A82">
                <a:alpha val="90000"/>
              </a:srgb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065A82"/>
                    </a:solidFill>
                    <a:latin typeface="Century Gothic" panose="020B0502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Chair</c:v>
                </c:pt>
                <c:pt idx="1">
                  <c:v>Printer</c:v>
                </c:pt>
                <c:pt idx="2">
                  <c:v>Tablet</c:v>
                </c:pt>
                <c:pt idx="3">
                  <c:v>Laptop</c:v>
                </c:pt>
                <c:pt idx="4">
                  <c:v>Phone</c:v>
                </c:pt>
                <c:pt idx="5">
                  <c:v>Monitor</c:v>
                </c:pt>
                <c:pt idx="6">
                  <c:v>Desk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195</c:v>
                </c:pt>
                <c:pt idx="1">
                  <c:v>185</c:v>
                </c:pt>
                <c:pt idx="2">
                  <c:v>182</c:v>
                </c:pt>
                <c:pt idx="3">
                  <c:v>178</c:v>
                </c:pt>
                <c:pt idx="4">
                  <c:v>170</c:v>
                </c:pt>
                <c:pt idx="5">
                  <c:v>165</c:v>
                </c:pt>
                <c:pt idx="6">
                  <c:v>160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50-4CD6-8BB5-8B0948A52E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chemeClr val="tx1"/>
                </a:solidFill>
                <a:latin typeface="Century Gothic" panose="020B0502020202020204" pitchFamily="34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majorGridlines>
          <c:spPr>
            <a:ln w="6350" cap="flat">
              <a:noFill/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1" i="0" u="none" strike="noStrike">
                <a:solidFill>
                  <a:srgbClr val="065A82"/>
                </a:solidFill>
                <a:latin typeface="Century Gothic" panose="020B0502020202020204" pitchFamily="34" charset="0"/>
              </a:defRPr>
            </a:pPr>
            <a:r>
              <a:rPr lang="en-US" sz="1000" b="1" i="0" u="none" strike="noStrike">
                <a:solidFill>
                  <a:srgbClr val="065A82"/>
                </a:solidFill>
                <a:latin typeface="Century Gothic" panose="020B0502020202020204" pitchFamily="34" charset="0"/>
              </a:rPr>
              <a:t>Payment Method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904-43B9-A196-B66F4C4363E8}"/>
              </c:ext>
            </c:extLst>
          </c:dPt>
          <c:dPt>
            <c:idx val="1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904-43B9-A196-B66F4C4363E8}"/>
              </c:ext>
            </c:extLst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904-43B9-A196-B66F4C4363E8}"/>
              </c:ext>
            </c:extLst>
          </c:dPt>
          <c:dPt>
            <c:idx val="3"/>
            <c:bubble3D val="0"/>
            <c:spPr>
              <a:solidFill>
                <a:srgbClr val="5A9A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904-43B9-A196-B66F4C4363E8}"/>
              </c:ext>
            </c:extLst>
          </c:dPt>
          <c:dPt>
            <c:idx val="4"/>
            <c:bubble3D val="0"/>
            <c:spPr>
              <a:solidFill>
                <a:srgbClr val="9ACF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904-43B9-A196-B66F4C4363E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904-43B9-A196-B66F4C4363E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904-43B9-A196-B66F4C4363E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904-43B9-A196-B66F4C4363E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904-43B9-A196-B66F4C4363E8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904-43B9-A196-B66F4C4363E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Online</c:v>
                </c:pt>
                <c:pt idx="1">
                  <c:v>Cash</c:v>
                </c:pt>
                <c:pt idx="2">
                  <c:v>Credit Card</c:v>
                </c:pt>
                <c:pt idx="3">
                  <c:v>Debit Card</c:v>
                </c:pt>
                <c:pt idx="4">
                  <c:v>Gift Card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258</c:v>
                </c:pt>
                <c:pt idx="1">
                  <c:v>246</c:v>
                </c:pt>
                <c:pt idx="2">
                  <c:v>234</c:v>
                </c:pt>
                <c:pt idx="3">
                  <c:v>232</c:v>
                </c:pt>
                <c:pt idx="4">
                  <c:v>230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904-43B9-A196-B66F4C4363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50" b="1" i="0" u="none" strike="noStrike">
                <a:solidFill>
                  <a:srgbClr val="065A82"/>
                </a:solidFill>
                <a:latin typeface="Century Gothic" panose="020B0502020202020204" pitchFamily="34" charset="0"/>
              </a:defRPr>
            </a:pPr>
            <a:r>
              <a:rPr lang="en-US" sz="1050" b="1" i="0" u="none" strike="noStrike">
                <a:solidFill>
                  <a:srgbClr val="065A82"/>
                </a:solidFill>
                <a:latin typeface="Century Gothic" panose="020B0502020202020204" pitchFamily="34" charset="0"/>
              </a:rPr>
              <a:t>Monthly Fulfilled Revenue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Fulfilled Revenue</c:v>
                </c:pt>
              </c:strCache>
            </c:strRef>
          </c:tx>
          <c:spPr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30000</c:v>
                </c:pt>
                <c:pt idx="1">
                  <c:v>32000</c:v>
                </c:pt>
                <c:pt idx="2">
                  <c:v>37000</c:v>
                </c:pt>
                <c:pt idx="3">
                  <c:v>38000</c:v>
                </c:pt>
                <c:pt idx="4">
                  <c:v>42000</c:v>
                </c:pt>
                <c:pt idx="5">
                  <c:v>58000</c:v>
                </c:pt>
                <c:pt idx="6">
                  <c:v>45000</c:v>
                </c:pt>
                <c:pt idx="7">
                  <c:v>28000</c:v>
                </c:pt>
                <c:pt idx="8">
                  <c:v>27000</c:v>
                </c:pt>
                <c:pt idx="9">
                  <c:v>52000</c:v>
                </c:pt>
                <c:pt idx="10">
                  <c:v>38000</c:v>
                </c:pt>
                <c:pt idx="11">
                  <c:v>36000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EB2-48F8-AA0E-5FE0421FD5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1" i="0" u="none" strike="noStrike">
                <a:solidFill>
                  <a:srgbClr val="64748B"/>
                </a:solidFill>
                <a:latin typeface="Century Gothic" panose="020B0502020202020204" pitchFamily="34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noFill/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entury Gothic" panose="020B0502020202020204" pitchFamily="34" charset="0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50" b="1" i="0" u="none" strike="noStrike">
                <a:solidFill>
                  <a:srgbClr val="065A82"/>
                </a:solidFill>
                <a:latin typeface="Century Gothic" panose="020B0502020202020204" pitchFamily="34" charset="0"/>
              </a:defRPr>
            </a:pPr>
            <a:r>
              <a:rPr lang="en-US" sz="1050" b="1" i="0" u="none" strike="noStrike">
                <a:solidFill>
                  <a:srgbClr val="065A82"/>
                </a:solidFill>
                <a:latin typeface="Century Gothic" panose="020B0502020202020204" pitchFamily="34" charset="0"/>
              </a:rPr>
              <a:t>Fulfilled Orders by Product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Fulfilled Orders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065A82"/>
                    </a:solidFill>
                    <a:latin typeface="Century Gothic" panose="020B0502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Chair</c:v>
                </c:pt>
                <c:pt idx="1">
                  <c:v>Desk</c:v>
                </c:pt>
                <c:pt idx="2">
                  <c:v>Laptop</c:v>
                </c:pt>
                <c:pt idx="3">
                  <c:v>Monitor</c:v>
                </c:pt>
                <c:pt idx="4">
                  <c:v>Phone</c:v>
                </c:pt>
                <c:pt idx="5">
                  <c:v>Printer</c:v>
                </c:pt>
                <c:pt idx="6">
                  <c:v>Tablet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78</c:v>
                </c:pt>
                <c:pt idx="1">
                  <c:v>74</c:v>
                </c:pt>
                <c:pt idx="2">
                  <c:v>80</c:v>
                </c:pt>
                <c:pt idx="3">
                  <c:v>62</c:v>
                </c:pt>
                <c:pt idx="4">
                  <c:v>68</c:v>
                </c:pt>
                <c:pt idx="5">
                  <c:v>60</c:v>
                </c:pt>
                <c:pt idx="6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61-40D6-A2DE-943693EA54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chemeClr val="tx1"/>
                </a:solidFill>
                <a:latin typeface="Century Gothic" panose="020B0502020202020204" pitchFamily="34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majorGridlines>
          <c:spPr>
            <a:ln w="6350" cap="flat">
              <a:noFill/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50" b="1" i="0" u="none" strike="noStrike">
                <a:solidFill>
                  <a:srgbClr val="065A82"/>
                </a:solidFill>
                <a:latin typeface="Century Gothic" panose="020B0502020202020204" pitchFamily="34" charset="0"/>
              </a:defRPr>
            </a:pPr>
            <a:r>
              <a:rPr lang="en-US" sz="1050" b="1" i="0" u="none" strike="noStrike">
                <a:solidFill>
                  <a:srgbClr val="065A82"/>
                </a:solidFill>
                <a:latin typeface="Century Gothic" panose="020B0502020202020204" pitchFamily="34" charset="0"/>
              </a:rPr>
              <a:t>Pipeline Loss Breakdown (Orders)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E0525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052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364-4C98-A4FA-74F53BDE4696}"/>
              </c:ext>
            </c:extLst>
          </c:dPt>
          <c:dPt>
            <c:idx val="1"/>
            <c:invertIfNegative val="0"/>
            <c:bubble3D val="0"/>
            <c:spPr>
              <a:solidFill>
                <a:srgbClr val="F4A92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364-4C98-A4FA-74F53BDE4696}"/>
              </c:ext>
            </c:extLst>
          </c:dPt>
          <c:dPt>
            <c:idx val="2"/>
            <c:invertIfNegative val="0"/>
            <c:bubble3D val="0"/>
            <c:spPr>
              <a:solidFill>
                <a:srgbClr val="A0A0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364-4C98-A4FA-74F53BDE469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65A82"/>
                    </a:solidFill>
                    <a:latin typeface="Century Gothic" panose="020B0502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Cancelled</c:v>
                </c:pt>
                <c:pt idx="1">
                  <c:v>Returned</c:v>
                </c:pt>
                <c:pt idx="2">
                  <c:v>Pending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250</c:v>
                </c:pt>
                <c:pt idx="1">
                  <c:v>247</c:v>
                </c:pt>
                <c:pt idx="2">
                  <c:v>237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364-4C98-A4FA-74F53BDE46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/>
                </a:solidFill>
                <a:latin typeface="Century Gothic" panose="020B0502020202020204" pitchFamily="34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noFill/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50" b="1" i="0" u="none" strike="noStrike">
                <a:solidFill>
                  <a:srgbClr val="065A82"/>
                </a:solidFill>
                <a:latin typeface="Century Gothic" panose="020B0502020202020204" pitchFamily="34" charset="0"/>
              </a:defRPr>
            </a:pPr>
            <a:r>
              <a:rPr lang="en-US" sz="1050" b="1" i="0" u="none" strike="noStrike">
                <a:solidFill>
                  <a:srgbClr val="065A82"/>
                </a:solidFill>
                <a:latin typeface="Century Gothic" panose="020B0502020202020204" pitchFamily="34" charset="0"/>
              </a:rPr>
              <a:t>At-Risk Revenue 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At-Risk Revenue</c:v>
                </c:pt>
              </c:strCache>
            </c:strRef>
          </c:tx>
          <c:spPr>
            <a:ln w="38100" cap="flat">
              <a:solidFill>
                <a:srgbClr val="E0525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05252"/>
              </a:solidFill>
              <a:ln w="9525" cap="flat">
                <a:solidFill>
                  <a:srgbClr val="E05252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55000</c:v>
                </c:pt>
                <c:pt idx="1">
                  <c:v>58000</c:v>
                </c:pt>
                <c:pt idx="2">
                  <c:v>58000</c:v>
                </c:pt>
                <c:pt idx="3">
                  <c:v>62000</c:v>
                </c:pt>
                <c:pt idx="4">
                  <c:v>68000</c:v>
                </c:pt>
                <c:pt idx="5">
                  <c:v>97000</c:v>
                </c:pt>
                <c:pt idx="6">
                  <c:v>80000</c:v>
                </c:pt>
                <c:pt idx="7">
                  <c:v>52000</c:v>
                </c:pt>
                <c:pt idx="8">
                  <c:v>48000</c:v>
                </c:pt>
                <c:pt idx="9">
                  <c:v>78000</c:v>
                </c:pt>
                <c:pt idx="10">
                  <c:v>62000</c:v>
                </c:pt>
                <c:pt idx="11">
                  <c:v>59000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3B9-4D78-AD86-7FAE985BE9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/>
                </a:solidFill>
                <a:latin typeface="Century Gothic" panose="020B0502020202020204" pitchFamily="34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noFill/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Century Gothic" panose="020B0502020202020204" pitchFamily="34" charset="0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50" b="1" i="0" u="none" strike="noStrike">
                <a:solidFill>
                  <a:srgbClr val="065A82"/>
                </a:solidFill>
                <a:latin typeface="Century Gothic" panose="020B0502020202020204" pitchFamily="34" charset="0"/>
              </a:defRPr>
            </a:pPr>
            <a:r>
              <a:rPr lang="en-US" sz="1050" b="1" i="0" u="none" strike="noStrike">
                <a:solidFill>
                  <a:srgbClr val="065A82"/>
                </a:solidFill>
                <a:latin typeface="Century Gothic" panose="020B0502020202020204" pitchFamily="34" charset="0"/>
              </a:rPr>
              <a:t>Order Volume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65A82"/>
                    </a:solidFill>
                    <a:latin typeface="Century Gothic" panose="020B0502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Gross</c:v>
                </c:pt>
                <c:pt idx="1">
                  <c:v>Net (Fulfilled)</c:v>
                </c:pt>
                <c:pt idx="2">
                  <c:v>At-Risk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</c:v>
                </c:pt>
                <c:pt idx="1">
                  <c:v>466</c:v>
                </c:pt>
                <c:pt idx="2">
                  <c:v>734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DA-4490-BAE5-DE6C6FCE4F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/>
                </a:solidFill>
                <a:latin typeface="Century Gothic" panose="020B0502020202020204" pitchFamily="34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noFill/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/>
                </a:solidFill>
                <a:latin typeface="Century Gothic" panose="020B0502020202020204" pitchFamily="34" charset="0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50" b="1" i="0" u="none" strike="noStrike">
                <a:solidFill>
                  <a:srgbClr val="065A82"/>
                </a:solidFill>
                <a:latin typeface="Century Gothic" panose="020B0502020202020204" pitchFamily="34" charset="0"/>
              </a:defRPr>
            </a:pPr>
            <a:r>
              <a:rPr lang="en-US" sz="1050" b="1" i="0" u="none" strike="noStrike">
                <a:solidFill>
                  <a:srgbClr val="065A82"/>
                </a:solidFill>
                <a:latin typeface="Century Gothic" panose="020B0502020202020204" pitchFamily="34" charset="0"/>
              </a:rPr>
              <a:t>Revenue Value Comparison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65A82"/>
                    </a:solidFill>
                    <a:latin typeface="Century Gothic" panose="020B0502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Gross</c:v>
                </c:pt>
                <c:pt idx="1">
                  <c:v>Net (Fulfilled)</c:v>
                </c:pt>
                <c:pt idx="2">
                  <c:v>At-Risk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1264762</c:v>
                </c:pt>
                <c:pt idx="1">
                  <c:v>488760</c:v>
                </c:pt>
                <c:pt idx="2">
                  <c:v>776002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F8-4E33-AABE-2F92FC12DA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/>
                </a:solidFill>
                <a:latin typeface="Century Gothic" panose="020B0502020202020204" pitchFamily="34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noFill/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/>
                </a:solidFill>
                <a:latin typeface="Century Gothic" panose="020B0502020202020204" pitchFamily="34" charset="0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65A82"/>
                </a:solidFill>
                <a:latin typeface="Arial"/>
              </a:defRPr>
            </a:pPr>
            <a:r>
              <a:rPr lang="en-US" sz="1050" b="1" i="0" u="none" strike="noStrike" dirty="0">
                <a:solidFill>
                  <a:srgbClr val="065A82"/>
                </a:solidFill>
                <a:latin typeface="Century Gothic" panose="020B0502020202020204" pitchFamily="34" charset="0"/>
              </a:rPr>
              <a:t>Monthly Revenue Trend (</a:t>
            </a:r>
            <a:r>
              <a:rPr lang="en-US" sz="1050" b="0" i="0" u="none" strike="noStrike" dirty="0">
                <a:solidFill>
                  <a:srgbClr val="065A82"/>
                </a:solidFill>
                <a:latin typeface="Century Gothic" panose="020B0502020202020204" pitchFamily="34" charset="0"/>
              </a:rPr>
              <a:t>Across</a:t>
            </a:r>
            <a:r>
              <a:rPr lang="en-US" sz="1050" b="0" i="0" u="none" strike="noStrike" baseline="0" dirty="0">
                <a:solidFill>
                  <a:srgbClr val="065A82"/>
                </a:solidFill>
                <a:latin typeface="Century Gothic" panose="020B0502020202020204" pitchFamily="34" charset="0"/>
              </a:rPr>
              <a:t> the Channel</a:t>
            </a:r>
            <a:r>
              <a:rPr lang="en-US" sz="1050" b="1" i="0" u="none" strike="noStrike" dirty="0">
                <a:solidFill>
                  <a:srgbClr val="065A82"/>
                </a:solidFill>
                <a:latin typeface="Century Gothic" panose="020B0502020202020204" pitchFamily="34" charset="0"/>
              </a:rPr>
              <a:t>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Revenue</c:v>
                </c:pt>
              </c:strCache>
            </c:strRef>
          </c:tx>
          <c:spPr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85000</c:v>
                </c:pt>
                <c:pt idx="1">
                  <c:v>90000</c:v>
                </c:pt>
                <c:pt idx="2">
                  <c:v>95000</c:v>
                </c:pt>
                <c:pt idx="3">
                  <c:v>100000</c:v>
                </c:pt>
                <c:pt idx="4">
                  <c:v>110000</c:v>
                </c:pt>
                <c:pt idx="5">
                  <c:v>155000</c:v>
                </c:pt>
                <c:pt idx="6">
                  <c:v>125000</c:v>
                </c:pt>
                <c:pt idx="7">
                  <c:v>80000</c:v>
                </c:pt>
                <c:pt idx="8">
                  <c:v>75000</c:v>
                </c:pt>
                <c:pt idx="9">
                  <c:v>130000</c:v>
                </c:pt>
                <c:pt idx="10">
                  <c:v>100000</c:v>
                </c:pt>
                <c:pt idx="11">
                  <c:v>95000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83E-4C17-B5A2-04294DB04C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Fulfilled Revenue</c:v>
                </c:pt>
              </c:strCache>
            </c:strRef>
          </c:tx>
          <c:spPr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30000</c:v>
                </c:pt>
                <c:pt idx="1">
                  <c:v>32000</c:v>
                </c:pt>
                <c:pt idx="2">
                  <c:v>37000</c:v>
                </c:pt>
                <c:pt idx="3">
                  <c:v>38000</c:v>
                </c:pt>
                <c:pt idx="4">
                  <c:v>42000</c:v>
                </c:pt>
                <c:pt idx="5">
                  <c:v>58000</c:v>
                </c:pt>
                <c:pt idx="6">
                  <c:v>45000</c:v>
                </c:pt>
                <c:pt idx="7">
                  <c:v>28000</c:v>
                </c:pt>
                <c:pt idx="8">
                  <c:v>27000</c:v>
                </c:pt>
                <c:pt idx="9">
                  <c:v>52000</c:v>
                </c:pt>
                <c:pt idx="10">
                  <c:v>38000</c:v>
                </c:pt>
                <c:pt idx="11">
                  <c:v>36000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83E-4C17-B5A2-04294DB04CF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At-Risk Revenue</c:v>
                </c:pt>
              </c:strCache>
            </c:strRef>
          </c:tx>
          <c:spPr>
            <a:ln w="31750" cap="flat">
              <a:solidFill>
                <a:srgbClr val="E0525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05252"/>
              </a:solidFill>
              <a:ln w="9525" cap="flat">
                <a:solidFill>
                  <a:srgbClr val="E05252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55000</c:v>
                </c:pt>
                <c:pt idx="1">
                  <c:v>58000</c:v>
                </c:pt>
                <c:pt idx="2">
                  <c:v>58000</c:v>
                </c:pt>
                <c:pt idx="3">
                  <c:v>62000</c:v>
                </c:pt>
                <c:pt idx="4">
                  <c:v>68000</c:v>
                </c:pt>
                <c:pt idx="5">
                  <c:v>97000</c:v>
                </c:pt>
                <c:pt idx="6">
                  <c:v>80000</c:v>
                </c:pt>
                <c:pt idx="7">
                  <c:v>52000</c:v>
                </c:pt>
                <c:pt idx="8">
                  <c:v>48000</c:v>
                </c:pt>
                <c:pt idx="9">
                  <c:v>78000</c:v>
                </c:pt>
                <c:pt idx="10">
                  <c:v>62000</c:v>
                </c:pt>
                <c:pt idx="11">
                  <c:v>59000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583E-4C17-B5A2-04294DB04C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/>
                </a:solidFill>
                <a:latin typeface="Century Gothic" panose="020B0502020202020204" pitchFamily="34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noFill/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/>
                </a:solidFill>
                <a:latin typeface="Century Gothic" panose="020B0502020202020204" pitchFamily="34" charset="0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192976885953772"/>
          <c:y val="0.90978717622418415"/>
          <c:w val="0.79500659695763831"/>
          <c:h val="6.4960298523290647E-2"/>
        </c:manualLayout>
      </c:layout>
      <c:overlay val="0"/>
      <c:txPr>
        <a:bodyPr/>
        <a:lstStyle/>
        <a:p>
          <a:pPr>
            <a:defRPr sz="800">
              <a:solidFill>
                <a:schemeClr val="tx1"/>
              </a:solidFill>
              <a:latin typeface="Century Gothic" panose="020B0502020202020204" pitchFamily="34" charset="0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50" b="1" i="0" u="none" strike="noStrike">
                <a:solidFill>
                  <a:srgbClr val="065A82"/>
                </a:solidFill>
                <a:latin typeface="Century Gothic" panose="020B0502020202020204" pitchFamily="34" charset="0"/>
              </a:defRPr>
            </a:pPr>
            <a:r>
              <a:rPr lang="en-US" sz="1050" b="1" i="0" u="none" strike="noStrike">
                <a:solidFill>
                  <a:srgbClr val="065A82"/>
                </a:solidFill>
                <a:latin typeface="Century Gothic" panose="020B0502020202020204" pitchFamily="34" charset="0"/>
              </a:rPr>
              <a:t>Gross Order Discount Usage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Usage</c:v>
                </c:pt>
              </c:strCache>
            </c:strRef>
          </c:tx>
          <c:spPr>
            <a:solidFill>
              <a:schemeClr val="accent1"/>
            </a:solidFill>
            <a:ln w="9525" cap="flat">
              <a:noFill/>
              <a:prstDash val="solid"/>
              <a:round/>
            </a:ln>
            <a:effectLst/>
          </c:spPr>
          <c:explosion val="2"/>
          <c:dPt>
            <c:idx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DD1-4B11-A5D7-7F8609B27CA4}"/>
              </c:ext>
            </c:extLst>
          </c:dPt>
          <c:dPt>
            <c:idx val="1"/>
            <c:bubble3D val="0"/>
            <c:spPr>
              <a:solidFill>
                <a:schemeClr val="accent5">
                  <a:lumMod val="50000"/>
                  <a:alpha val="84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DD1-4B11-A5D7-7F8609B27CA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>
                    <a:latin typeface="Century Gothic" panose="020B0502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 Discount </c:v>
                </c:pt>
                <c:pt idx="1">
                  <c:v>Discount Applied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0.26</c:v>
                </c:pt>
                <c:pt idx="1">
                  <c:v>0.74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DD1-4B11-A5D7-7F8609B27C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2400991542723824"/>
          <c:y val="0.89210164253661839"/>
          <c:w val="0.70877029260231361"/>
          <c:h val="8.1016637033274067E-2"/>
        </c:manualLayout>
      </c:layout>
      <c:overlay val="0"/>
      <c:txPr>
        <a:bodyPr/>
        <a:lstStyle/>
        <a:p>
          <a:pPr>
            <a:defRPr>
              <a:solidFill>
                <a:schemeClr val="tx1"/>
              </a:solidFill>
              <a:latin typeface="Century Gothic" panose="020B0502020202020204" pitchFamily="34" charset="0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50" b="1" i="0" u="none" strike="noStrike">
                <a:solidFill>
                  <a:srgbClr val="065A82"/>
                </a:solidFill>
                <a:latin typeface="Century Gothic" panose="020B0502020202020204" pitchFamily="34" charset="0"/>
              </a:defRPr>
            </a:pPr>
            <a:r>
              <a:rPr lang="en-US" sz="1050" b="1" i="0" u="none" strike="noStrike">
                <a:solidFill>
                  <a:srgbClr val="065A82"/>
                </a:solidFill>
                <a:latin typeface="Century Gothic" panose="020B0502020202020204" pitchFamily="34" charset="0"/>
              </a:rPr>
              <a:t>Weekly Order Volume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65A82">
                <a:alpha val="92000"/>
              </a:srgb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 i="0" u="none" strike="noStrike">
                    <a:solidFill>
                      <a:srgbClr val="065A82"/>
                    </a:solidFill>
                    <a:latin typeface="Century Gothic" panose="020B0502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195</c:v>
                </c:pt>
                <c:pt idx="1">
                  <c:v>158</c:v>
                </c:pt>
                <c:pt idx="2">
                  <c:v>152</c:v>
                </c:pt>
                <c:pt idx="3">
                  <c:v>150</c:v>
                </c:pt>
                <c:pt idx="4">
                  <c:v>165</c:v>
                </c:pt>
                <c:pt idx="5">
                  <c:v>148</c:v>
                </c:pt>
                <c:pt idx="6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C3-4DB3-BEEC-EC157B3DD0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chemeClr val="tx1"/>
                </a:solidFill>
                <a:latin typeface="Century Gothic" panose="020B0502020202020204" pitchFamily="34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noFill/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3729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02C39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SALES PERFORMANCE ANALYSIS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 – 2025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8C8D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Executive Summary: Gross Performance · Net Revenue · Revenue at Risk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899A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Prepared by Omusilwa Victor</a:t>
            </a: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09728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1965960" cy="2103120"/>
          </a:xfrm>
          <a:prstGeom prst="roundRect">
            <a:avLst>
              <a:gd name="adj" fmla="val 5581"/>
            </a:avLst>
          </a:prstGeom>
          <a:solidFill>
            <a:srgbClr val="065A82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11556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6916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20040" y="230428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Total Gross Orders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20040" y="26974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EF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Across All Orders Statuses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468880" y="1005840"/>
            <a:ext cx="1965960" cy="2103120"/>
          </a:xfrm>
          <a:prstGeom prst="roundRect">
            <a:avLst>
              <a:gd name="adj" fmla="val 5581"/>
            </a:avLst>
          </a:prstGeom>
          <a:solidFill>
            <a:srgbClr val="1C7293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1115568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68880" y="16916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$1.26M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2468880" y="230428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Gross Revenue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468880" y="26974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EF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2023–2025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617720" y="1005840"/>
            <a:ext cx="1965960" cy="2103120"/>
          </a:xfrm>
          <a:prstGeom prst="roundRect">
            <a:avLst>
              <a:gd name="adj" fmla="val 5581"/>
            </a:avLst>
          </a:prstGeom>
          <a:solidFill>
            <a:srgbClr val="02809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1115568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17720" y="16916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$488.8K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4617720" y="230428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Fulfilled Revenue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4617720" y="26974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EF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38.6% of gross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6766560" y="1005840"/>
            <a:ext cx="1965960" cy="2103120"/>
          </a:xfrm>
          <a:prstGeom prst="roundRect">
            <a:avLst>
              <a:gd name="adj" fmla="val 5581"/>
            </a:avLst>
          </a:prstGeom>
          <a:solidFill>
            <a:srgbClr val="E05252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1115568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66560" y="16916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$776K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6766560" y="230428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6766560" y="26974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EF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61.4% of gross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457200" y="3337559"/>
            <a:ext cx="8229600" cy="9470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The business generated strong gross demand but only </a:t>
            </a:r>
            <a:r>
              <a:rPr lang="en-US" sz="1200" b="1" dirty="0">
                <a:solidFill>
                  <a:schemeClr val="accent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38.6% </a:t>
            </a:r>
            <a:r>
              <a:rPr lang="en-US" sz="12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was successfully converted into realized revenue.</a:t>
            </a:r>
            <a:endParaRPr lang="en-US" sz="1200" dirty="0">
              <a:latin typeface="Century Gothic" panose="020B0502020202020204" pitchFamily="34" charset="0"/>
            </a:endParaRPr>
          </a:p>
          <a:p>
            <a:pPr marL="0" indent="0" algn="l">
              <a:buNone/>
            </a:pPr>
            <a:r>
              <a:rPr lang="en-US" sz="12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The remaining </a:t>
            </a:r>
            <a:r>
              <a:rPr lang="en-US" sz="1200" b="1" dirty="0">
                <a:solidFill>
                  <a:srgbClr val="C00000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61.4% </a:t>
            </a:r>
            <a:r>
              <a:rPr lang="en-US" sz="12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is lost or at risk; a critical operational challenge.</a:t>
            </a:r>
            <a:endParaRPr lang="en-US" sz="12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GROSS PERFORMANCE</a:t>
            </a:r>
            <a:endParaRPr lang="en-US" sz="2200" dirty="0">
              <a:latin typeface="Century Gothic" panose="020B0502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4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468880" y="10515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4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972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$1.26M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468880" y="16642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4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972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$1,054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16642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675120" y="10515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4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0972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75120" y="16642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Order Completion Rate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3705420389"/>
              </p:ext>
            </p:extLst>
          </p:nvPr>
        </p:nvGraphicFramePr>
        <p:xfrm>
          <a:off x="365760" y="2240280"/>
          <a:ext cx="50292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"/>
          <p:cNvGraphicFramePr/>
          <p:nvPr>
            <p:extLst>
              <p:ext uri="{D42A27DB-BD31-4B8C-83A1-F6EECF244321}">
                <p14:modId xmlns:p14="http://schemas.microsoft.com/office/powerpoint/2010/main" val="2324259180"/>
              </p:ext>
            </p:extLst>
          </p:nvPr>
        </p:nvGraphicFramePr>
        <p:xfrm>
          <a:off x="5394960" y="2240280"/>
          <a:ext cx="34747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PRODUCT &amp; PAYMENT INSIGHTS</a:t>
            </a:r>
            <a:endParaRPr lang="en-US" sz="2200" dirty="0">
              <a:latin typeface="Century Gothic" panose="020B0502020202020204" pitchFamily="34" charset="0"/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077918385"/>
              </p:ext>
            </p:extLst>
          </p:nvPr>
        </p:nvGraphicFramePr>
        <p:xfrm>
          <a:off x="365760" y="1051560"/>
          <a:ext cx="47548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972366428"/>
              </p:ext>
            </p:extLst>
          </p:nvPr>
        </p:nvGraphicFramePr>
        <p:xfrm>
          <a:off x="5303520" y="1051560"/>
          <a:ext cx="36576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43891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Online payments lead at </a:t>
            </a: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258</a:t>
            </a:r>
            <a:r>
              <a:rPr lang="en-US" sz="12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orders. Chair, Printer &amp; Tablet are the top 3 product categories</a:t>
            </a:r>
            <a:r>
              <a:rPr lang="en-US" sz="1200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NET PERFORMANCE (DELIVERED + SHIPPED)</a:t>
            </a:r>
            <a:endParaRPr lang="en-US" sz="2000" dirty="0">
              <a:latin typeface="Century Gothic" panose="020B0502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4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Fulfilled Orders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468880" y="10515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4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972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$488.8K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468880" y="16642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Realized Revenue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4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972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$1,049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16642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675120" y="10515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4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0972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38.6%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75120" y="16642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Revenue Conversion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3419896858"/>
              </p:ext>
            </p:extLst>
          </p:nvPr>
        </p:nvGraphicFramePr>
        <p:xfrm>
          <a:off x="365760" y="2240280"/>
          <a:ext cx="50292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"/>
          <p:cNvGraphicFramePr/>
          <p:nvPr>
            <p:extLst>
              <p:ext uri="{D42A27DB-BD31-4B8C-83A1-F6EECF244321}">
                <p14:modId xmlns:p14="http://schemas.microsoft.com/office/powerpoint/2010/main" val="1803214982"/>
              </p:ext>
            </p:extLst>
          </p:nvPr>
        </p:nvGraphicFramePr>
        <p:xfrm>
          <a:off x="5577840" y="2240280"/>
          <a:ext cx="32918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REVENUE LOST / AT RISK</a:t>
            </a:r>
            <a:endParaRPr lang="en-US" sz="2200" dirty="0">
              <a:latin typeface="Century Gothic" panose="020B0502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0F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At-Risk Orders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468880" y="10515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0F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972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$776K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468880" y="16642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0F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972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61.4%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16642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Share of Gross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675120" y="10515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0F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0972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$1,057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75120" y="16642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Avg At-Risk AOV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3812631501"/>
              </p:ext>
            </p:extLst>
          </p:nvPr>
        </p:nvGraphicFramePr>
        <p:xfrm>
          <a:off x="365760" y="2240280"/>
          <a:ext cx="40233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"/>
          <p:cNvGraphicFramePr/>
          <p:nvPr>
            <p:extLst>
              <p:ext uri="{D42A27DB-BD31-4B8C-83A1-F6EECF244321}">
                <p14:modId xmlns:p14="http://schemas.microsoft.com/office/powerpoint/2010/main" val="1349009718"/>
              </p:ext>
            </p:extLst>
          </p:nvPr>
        </p:nvGraphicFramePr>
        <p:xfrm>
          <a:off x="4572000" y="2240280"/>
          <a:ext cx="429768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Revenue Conversion Funnel</a:t>
            </a:r>
            <a:endParaRPr lang="en-US" sz="2800" dirty="0">
              <a:latin typeface="Century Gothic" panose="020B0502020202020204" pitchFamily="34" charset="0"/>
            </a:endParaRPr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954191574"/>
              </p:ext>
            </p:extLst>
          </p:nvPr>
        </p:nvGraphicFramePr>
        <p:xfrm>
          <a:off x="365760" y="914400"/>
          <a:ext cx="41148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>
            <p:extLst>
              <p:ext uri="{D42A27DB-BD31-4B8C-83A1-F6EECF244321}">
                <p14:modId xmlns:p14="http://schemas.microsoft.com/office/powerpoint/2010/main" val="4175902262"/>
              </p:ext>
            </p:extLst>
          </p:nvPr>
        </p:nvGraphicFramePr>
        <p:xfrm>
          <a:off x="4754880" y="914400"/>
          <a:ext cx="41148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Only </a:t>
            </a:r>
            <a:r>
              <a:rPr lang="en-US" sz="1200" b="1" dirty="0">
                <a:solidFill>
                  <a:schemeClr val="accent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38.6% </a:t>
            </a:r>
            <a:r>
              <a:rPr lang="en-US" sz="12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of gross revenue converts to completed sales, revealing a </a:t>
            </a:r>
            <a:r>
              <a:rPr lang="en-US" sz="1200" b="1" dirty="0">
                <a:solidFill>
                  <a:srgbClr val="C00000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61.4% </a:t>
            </a:r>
            <a:r>
              <a:rPr lang="en-US" sz="12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revenue gap that represents the primary growth lever.</a:t>
            </a:r>
            <a:endParaRPr lang="en-US" sz="12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SEASONAL &amp; CHANNEL PERFORMANCE</a:t>
            </a:r>
            <a:endParaRPr lang="en-US" sz="2000" dirty="0">
              <a:latin typeface="Century Gothic" panose="020B0502020202020204" pitchFamily="34" charset="0"/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459775561"/>
              </p:ext>
            </p:extLst>
          </p:nvPr>
        </p:nvGraphicFramePr>
        <p:xfrm>
          <a:off x="365760" y="1051560"/>
          <a:ext cx="56692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0972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FF7E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32588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66560" y="118872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June </a:t>
            </a:r>
            <a:r>
              <a:rPr lang="en-US" sz="105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&amp;</a:t>
            </a:r>
            <a:r>
              <a:rPr lang="en-US" sz="1050" b="1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October </a:t>
            </a:r>
            <a:r>
              <a:rPr lang="en-US" sz="105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are peak revenue </a:t>
            </a:r>
            <a:r>
              <a:rPr lang="en-US" sz="11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months</a:t>
            </a:r>
            <a:r>
              <a:rPr lang="en-US" sz="105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across all order statuses.</a:t>
            </a:r>
            <a:endParaRPr lang="en-US" sz="1050" dirty="0">
              <a:latin typeface="Century Gothic" panose="020B0502020202020204" pitchFamily="34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6217920" y="214884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E8FBF5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37744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66560" y="224028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Email </a:t>
            </a:r>
            <a:r>
              <a:rPr lang="en-US" sz="11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&amp;</a:t>
            </a:r>
            <a:r>
              <a:rPr lang="en-US" sz="1100" b="1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Instagram </a:t>
            </a:r>
            <a:r>
              <a:rPr lang="en-US" sz="11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consistently attract the highest-quality customers</a:t>
            </a:r>
            <a:r>
              <a:rPr lang="en-US" sz="1100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6217920" y="32004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FF0F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429000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66560" y="32918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Revenue loss </a:t>
            </a:r>
            <a:r>
              <a:rPr lang="en-US" sz="11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scales proportionally with volume indicating a systemic risk.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USAGE &amp; WEEKLY ORDER PATTERNS</a:t>
            </a:r>
            <a:endParaRPr lang="en-US" sz="19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737360157"/>
              </p:ext>
            </p:extLst>
          </p:nvPr>
        </p:nvGraphicFramePr>
        <p:xfrm>
          <a:off x="365760" y="1051560"/>
          <a:ext cx="41148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3517936119"/>
              </p:ext>
            </p:extLst>
          </p:nvPr>
        </p:nvGraphicFramePr>
        <p:xfrm>
          <a:off x="4754880" y="1051560"/>
          <a:ext cx="41148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1148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74% </a:t>
            </a:r>
            <a:r>
              <a:rPr lang="en-US" sz="12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of orders required discount, demonstrating a price sensitive demand. Weekends (Sun &amp; Sat) see the highest order volumes.</a:t>
            </a:r>
            <a:endParaRPr lang="en-US" sz="12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2800" dirty="0">
              <a:latin typeface="Century Gothic" panose="020B0502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Key actions to unlock the $776K revenue opportunity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0D2438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0876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0194" y="1463040"/>
            <a:ext cx="20465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Improve Fulfillment Efficiency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94360" y="19202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A8C8D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Streamline order processing to reduce cancellations and pending orders.</a:t>
            </a:r>
            <a:endParaRPr lang="en-US" sz="900" dirty="0">
              <a:latin typeface="Century Gothic" panose="020B0502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310128" y="13716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0D2438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50876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77056" y="14630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Reduce Returns</a:t>
            </a:r>
            <a:endParaRPr lang="en-US" sz="1050" dirty="0">
              <a:latin typeface="Century Gothic" panose="020B0502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447288" y="19202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A8C8D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Enhance product quality and accurate descriptions to lower the 247 returned orders.</a:t>
            </a:r>
            <a:endParaRPr lang="en-US" sz="900" dirty="0">
              <a:latin typeface="Century Gothic" panose="020B0502020202020204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163056" y="13716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0D2438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50876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29984" y="14630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Convert Pending Orders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6300216" y="19202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A8C8D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Proactive follow-up on 237 pending orders can immediately recover delayed revenue</a:t>
            </a:r>
            <a:r>
              <a:rPr lang="en-US" sz="900" dirty="0">
                <a:solidFill>
                  <a:srgbClr val="A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57200" y="29718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0D2438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108960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24128" y="30632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Double Down on Email &amp; Instagram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594360" y="35204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A8C8D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These channels yield the best conversion; invest further in engagement and nurture flows.</a:t>
            </a:r>
            <a:endParaRPr lang="en-US" sz="900" dirty="0">
              <a:latin typeface="Century Gothic" panose="020B0502020202020204" pitchFamily="34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3310128" y="29718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0D2438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7288" y="3108960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77056" y="30632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Seasonal Campaigns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3447288" y="35204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A8C8D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Leverage June &amp; October peaks with targeted promotions and staffing up for demand surges.</a:t>
            </a:r>
            <a:endParaRPr lang="en-US" sz="900" dirty="0">
              <a:latin typeface="Century Gothic" panose="020B0502020202020204" pitchFamily="34" charset="0"/>
            </a:endParaRPr>
          </a:p>
        </p:txBody>
      </p:sp>
      <p:sp>
        <p:nvSpPr>
          <p:cNvPr id="24" name="Shape 17"/>
          <p:cNvSpPr/>
          <p:nvPr/>
        </p:nvSpPr>
        <p:spPr>
          <a:xfrm>
            <a:off x="6163056" y="29718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0D2438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216" y="3108960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29984" y="30632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Revenue Recovery Target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6300216" y="35204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A8C8D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A 20-30% reduction in pipeline losses  to $155K–$233K in recovered annual revenue</a:t>
            </a:r>
            <a:r>
              <a:rPr lang="en-US" sz="900" dirty="0">
                <a:solidFill>
                  <a:srgbClr val="A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450</Words>
  <Application>Microsoft Office PowerPoint</Application>
  <PresentationFormat>On-screen Show (16:9)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Analysis 2023-2025</dc:title>
  <dc:subject>PptxGenJS Presentation</dc:subject>
  <dc:creator>PptxGenJS</dc:creator>
  <cp:lastModifiedBy>User</cp:lastModifiedBy>
  <cp:revision>12</cp:revision>
  <dcterms:created xsi:type="dcterms:W3CDTF">2026-06-10T15:23:39Z</dcterms:created>
  <dcterms:modified xsi:type="dcterms:W3CDTF">2026-06-08T23:38:23Z</dcterms:modified>
</cp:coreProperties>
</file>